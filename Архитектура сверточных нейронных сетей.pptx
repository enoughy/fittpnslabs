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Proxima Nova"/>
      <p:regular r:id="rId16"/>
      <p:bold r:id="rId17"/>
      <p:italic r:id="rId18"/>
      <p:boldItalic r:id="rId19"/>
    </p:embeddedFont>
    <p:embeddedFont>
      <p:font typeface="Alfa Slab One"/>
      <p:regular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AlfaSlabOne-regular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ProximaNova-bold.fntdata"/><Relationship Id="rId16" Type="http://schemas.openxmlformats.org/officeDocument/2006/relationships/font" Target="fonts/ProximaNova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ProximaNova-boldItalic.fntdata"/><Relationship Id="rId6" Type="http://schemas.openxmlformats.org/officeDocument/2006/relationships/slide" Target="slides/slide1.xml"/><Relationship Id="rId18" Type="http://schemas.openxmlformats.org/officeDocument/2006/relationships/font" Target="fonts/ProximaNova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9a8de49d71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9a8de49d71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9a8de49d71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9a8de49d71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9a8de49d71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9a8de49d71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9a8de49d71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9a8de49d71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9a8de49d71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9a8de49d71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9a8de49d71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9a8de49d71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9a8de49d71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9a8de49d71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9a8de49d71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9a8de49d71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9a8de49d71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9a8de49d71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4278300" y="2751163"/>
            <a:ext cx="587400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595975"/>
            <a:ext cx="8520600" cy="195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3165823"/>
            <a:ext cx="8520600" cy="73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2480550"/>
            <a:ext cx="8114400" cy="244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490875"/>
            <a:ext cx="2808000" cy="307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526350"/>
            <a:ext cx="5683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10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" name="Google Shape;38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375599"/>
            <a:ext cx="4045200" cy="155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2981125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lfa Slab One"/>
              <a:buNone/>
              <a:defRPr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167925"/>
            <a:ext cx="8520600" cy="198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32242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ameday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roxima Nova"/>
              <a:buChar char="●"/>
              <a:defRPr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gif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ctrTitle"/>
          </p:nvPr>
        </p:nvSpPr>
        <p:spPr>
          <a:xfrm>
            <a:off x="311700" y="595975"/>
            <a:ext cx="8520600" cy="195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Архитектура сверточных нейронных сетей</a:t>
            </a:r>
            <a:endParaRPr/>
          </a:p>
        </p:txBody>
      </p:sp>
      <p:sp>
        <p:nvSpPr>
          <p:cNvPr id="57" name="Google Shape;57;p13"/>
          <p:cNvSpPr txBox="1"/>
          <p:nvPr>
            <p:ph idx="1" type="subTitle"/>
          </p:nvPr>
        </p:nvSpPr>
        <p:spPr>
          <a:xfrm>
            <a:off x="311700" y="3165823"/>
            <a:ext cx="8520600" cy="73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Определение</a:t>
            </a:r>
            <a:endParaRPr/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Сверточные нейронные сети </a:t>
            </a:r>
            <a:r>
              <a:rPr lang="ru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(convolutional neural networks, CNN) -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класс нейронных сетей предназначены для работы с данными, имеющими сетчатую структуру и характеризуется сильными пространственными зависимостями в локальных областях сетки. </a:t>
            </a:r>
            <a:endParaRPr sz="2000"/>
          </a:p>
        </p:txBody>
      </p:sp>
      <p:pic>
        <p:nvPicPr>
          <p:cNvPr id="64" name="Google Shape;6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130140"/>
            <a:ext cx="9143999" cy="34325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Основная сфера примененрия</a:t>
            </a:r>
            <a:endParaRPr/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Компьютерное зрение (Computer Vision)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ru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Классификация изображений</a:t>
            </a:r>
            <a:r>
              <a:rPr lang="ru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Определение, что именно изображено на картинке (например, распознавание пород собак или типов товаров).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ru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Детекция объектов: Нахождение объектов на изображении и определение их местоположения (рамка вокруг объекта).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ru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Семантическая сегментация: Пиксельная классификация, позволяющая выделять границы объектов (используется, например, для отделения дорожного полотна от обочины).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ru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Распознавание лиц: Системы аутентификации в смартфонах, камерах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21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Почему обычные нейросети плохо работают с изображениями</a:t>
            </a:r>
            <a:endParaRPr/>
          </a:p>
        </p:txBody>
      </p:sp>
      <p:pic>
        <p:nvPicPr>
          <p:cNvPr id="76" name="Google Shape;7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05600" y="1322525"/>
            <a:ext cx="5932795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Структура</a:t>
            </a:r>
            <a:endParaRPr/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ru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Базовая структура CNN</a:t>
            </a:r>
            <a:endParaRPr b="1"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ru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Входной слой (изображение)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ru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Сверточный слой (Conv layer)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ru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Подвыборка (Pooling)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ru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Полносвязный слой (Fully Connected)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Операция свертки</a:t>
            </a:r>
            <a:endParaRPr/>
          </a:p>
        </p:txBody>
      </p:sp>
      <p:sp>
        <p:nvSpPr>
          <p:cNvPr id="88" name="Google Shape;88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9" name="Google Shape;89;p18" title="c257ff6f96200e7419fdf796025a1636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5613" y="1255050"/>
            <a:ext cx="6912784" cy="3888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Операция пулинга</a:t>
            </a:r>
            <a:endParaRPr/>
          </a:p>
        </p:txBody>
      </p:sp>
      <p:pic>
        <p:nvPicPr>
          <p:cNvPr id="95" name="Google Shape;9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81388" y="959125"/>
            <a:ext cx="5381236" cy="4184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Полносвязный слой</a:t>
            </a:r>
            <a:endParaRPr/>
          </a:p>
        </p:txBody>
      </p:sp>
      <p:sp>
        <p:nvSpPr>
          <p:cNvPr id="101" name="Google Shape;101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2" name="Google Shape;10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5000" y="1152475"/>
            <a:ext cx="5932795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Обучение</a:t>
            </a:r>
            <a:endParaRPr/>
          </a:p>
        </p:txBody>
      </p:sp>
      <p:sp>
        <p:nvSpPr>
          <p:cNvPr id="108" name="Google Shape;108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5200" y="1247725"/>
            <a:ext cx="6873577" cy="389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Заключение</a:t>
            </a:r>
            <a:endParaRPr/>
          </a:p>
        </p:txBody>
      </p:sp>
      <p:sp>
        <p:nvSpPr>
          <p:cNvPr id="115" name="Google Shape;115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ru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🔹 Основные выводы</a:t>
            </a:r>
            <a:endParaRPr b="1"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Сверточные нейронные сети — эффективный метод обработки изображений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Используют: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локальные рецептивные поля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операцию свертки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уменьшение размерности (pooling)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Позволяют автоматически извлекать признаки из данных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ru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🔹 Преимущества CNN</a:t>
            </a:r>
            <a:endParaRPr b="1"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Меньше параметров по сравнению с обычными нейросетями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Устойчивость к смещениям и искажениям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Высокая точность в задачах компьютерного зрения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ameday">
  <a:themeElements>
    <a:clrScheme name="Gameday">
      <a:dk1>
        <a:srgbClr val="4285F4"/>
      </a:dk1>
      <a:lt1>
        <a:srgbClr val="FFFFFF"/>
      </a:lt1>
      <a:dk2>
        <a:srgbClr val="666666"/>
      </a:dk2>
      <a:lt2>
        <a:srgbClr val="D9D9D9"/>
      </a:lt2>
      <a:accent1>
        <a:srgbClr val="455A64"/>
      </a:accent1>
      <a:accent2>
        <a:srgbClr val="607D8B"/>
      </a:accent2>
      <a:accent3>
        <a:srgbClr val="FF5722"/>
      </a:accent3>
      <a:accent4>
        <a:srgbClr val="D84315"/>
      </a:accent4>
      <a:accent5>
        <a:srgbClr val="1C3AA9"/>
      </a:accent5>
      <a:accent6>
        <a:srgbClr val="FFAB40"/>
      </a:accent6>
      <a:hlink>
        <a:srgbClr val="1C3AA9"/>
      </a:hlink>
      <a:folHlink>
        <a:srgbClr val="1C3A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